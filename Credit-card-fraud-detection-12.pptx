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Manrope" panose="020B0604020202020204" charset="0"/>
      <p:regular r:id="rId17"/>
    </p:embeddedFont>
    <p:embeddedFont>
      <p:font typeface="Manrope Bold" panose="020B0604020202020204" charset="0"/>
      <p:regular r:id="rId18"/>
    </p:embeddedFont>
    <p:embeddedFont>
      <p:font typeface="Manrope Medium" panose="020B0604020202020204" charset="0"/>
      <p:regular r:id="rId19"/>
    </p:embeddedFont>
    <p:embeddedFont>
      <p:font typeface="Manrope SemiBold" panose="020B0604020202020204" charset="0"/>
      <p:regular r:id="rId20"/>
    </p:embeddedFont>
    <p:embeddedFont>
      <p:font typeface="Prata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B1D"/>
    <a:srgbClr val="212326"/>
    <a:srgbClr val="69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2760" y="-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49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7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782" y="1352649"/>
            <a:ext cx="10820129" cy="1030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150" kern="0" spc="-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Credit Card Fraud Detection</a:t>
            </a:r>
            <a:endParaRPr lang="en-US" sz="4150" dirty="0"/>
          </a:p>
          <a:p>
            <a:pPr marL="0" indent="0" algn="l">
              <a:lnSpc>
                <a:spcPct val="82000"/>
              </a:lnSpc>
              <a:buNone/>
            </a:pPr>
            <a:r>
              <a:rPr lang="en-US" sz="4150" kern="0" spc="-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Using Deep Learning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685783" y="2565102"/>
            <a:ext cx="11429714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 MLP + Autoencoder Stacking Ensemble Approach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783" y="3007916"/>
            <a:ext cx="5410065" cy="19050"/>
          </a:xfrm>
          <a:prstGeom prst="roundRect">
            <a:avLst>
              <a:gd name="adj" fmla="val 49999"/>
            </a:avLst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783" y="3244850"/>
            <a:ext cx="11429714" cy="284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00" b="1" dirty="0">
                <a:solidFill>
                  <a:srgbClr val="FFD1A7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ETA3_AI — AI Training Program (Huawei - NTI)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783" y="3704729"/>
            <a:ext cx="10820129" cy="7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B88B7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Instructor:</a:t>
            </a:r>
            <a:r>
              <a:rPr lang="en-US" sz="1800" dirty="0">
                <a:solidFill>
                  <a:srgbClr val="B88B7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8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Dr. Ahmed Arafa</a:t>
            </a:r>
            <a:endParaRPr lang="en-US" sz="1800" dirty="0"/>
          </a:p>
          <a:p>
            <a:pPr marL="0" indent="0" algn="l">
              <a:lnSpc>
                <a:spcPct val="109000"/>
              </a:lnSpc>
              <a:buNone/>
            </a:pPr>
            <a:r>
              <a:rPr lang="en-US" sz="1800" b="1" dirty="0">
                <a:solidFill>
                  <a:srgbClr val="B88B7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Team Leader:</a:t>
            </a:r>
            <a:r>
              <a:rPr lang="en-US" sz="18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8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Shorouk Yehia Ismail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783" y="4654451"/>
            <a:ext cx="11429714" cy="284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700" b="1" dirty="0">
                <a:solidFill>
                  <a:srgbClr val="B88B7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Team Members: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783" y="5114330"/>
            <a:ext cx="10820129" cy="128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09000"/>
              </a:lnSpc>
              <a:buSzPct val="100000"/>
              <a:buChar char="•"/>
            </a:pPr>
            <a:r>
              <a:rPr lang="en-US" sz="17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n-US" sz="17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Amr Mohamed.</a:t>
            </a:r>
            <a:endParaRPr lang="en-US" sz="1700" dirty="0"/>
          </a:p>
          <a:p>
            <a:pPr marL="345440" indent="-345440" algn="l">
              <a:lnSpc>
                <a:spcPct val="109000"/>
              </a:lnSpc>
              <a:buSzPct val="100000"/>
              <a:buChar char="•"/>
            </a:pPr>
            <a:r>
              <a:rPr lang="en-US" sz="17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Saeed Seliem.</a:t>
            </a:r>
            <a:endParaRPr lang="en-US" sz="1700" dirty="0"/>
          </a:p>
          <a:p>
            <a:pPr marL="345440" indent="-345440" algn="l">
              <a:lnSpc>
                <a:spcPct val="109000"/>
              </a:lnSpc>
              <a:buSzPct val="100000"/>
              <a:buChar char="•"/>
            </a:pPr>
            <a:r>
              <a:rPr lang="en-US" sz="17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Jana Hazem.</a:t>
            </a:r>
            <a:endParaRPr lang="en-US" sz="1700" dirty="0"/>
          </a:p>
          <a:p>
            <a:pPr marL="345440" indent="-345440" algn="l">
              <a:lnSpc>
                <a:spcPct val="109000"/>
              </a:lnSpc>
              <a:buSzPct val="100000"/>
              <a:buChar char="•"/>
            </a:pPr>
            <a:r>
              <a:rPr lang="en-US" sz="1700" b="1" dirty="0">
                <a:solidFill>
                  <a:srgbClr val="CCCCC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Omnia Hesham.</a:t>
            </a: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046C2F-67EC-6228-4B0C-7A2152B0B2FD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Fraud is rare enough to make accuracy misleading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2381746"/>
            <a:ext cx="444141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58786" y="2669977"/>
            <a:ext cx="3831831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kern="0" spc="-55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283,726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58786" y="3480594"/>
            <a:ext cx="444141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transactions after duplicate removal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58786" y="3856137"/>
            <a:ext cx="3831732" cy="31651"/>
          </a:xfrm>
          <a:prstGeom prst="roundRect">
            <a:avLst>
              <a:gd name="adj" fmla="val 49998"/>
            </a:avLst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58786" y="4149824"/>
            <a:ext cx="38318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473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58786" y="4811018"/>
            <a:ext cx="444141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 · 0.167%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47806" y="2702421"/>
            <a:ext cx="678510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Accuracy alone is misleading.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Predicting legitimate for almost every transaction can look excellent while missing the fraud cases that matter.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7806" y="3367782"/>
            <a:ext cx="7343889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EVALUATION LENSES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47806" y="3697288"/>
            <a:ext cx="3316304" cy="982861"/>
          </a:xfrm>
          <a:prstGeom prst="roundRect">
            <a:avLst>
              <a:gd name="adj" fmla="val 1163"/>
            </a:avLst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6400" y="3925888"/>
            <a:ext cx="346870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Precision · Recall · F1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16506" y="3697288"/>
            <a:ext cx="3316403" cy="982861"/>
          </a:xfrm>
          <a:prstGeom prst="roundRect">
            <a:avLst>
              <a:gd name="adj" fmla="val 1163"/>
            </a:avLst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5100" y="3925888"/>
            <a:ext cx="285921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ROC-AUC · PR-AUC · False positives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06512" y="1057970"/>
            <a:ext cx="25399" cy="526663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56B023-F600-B649-A893-4C3E57BD9D83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Thirty engineered features make the input reproducible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11632909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same feature order is used in training and deployment.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38179" y="1816100"/>
            <a:ext cx="333367" cy="333375"/>
          </a:xfrm>
          <a:prstGeom prst="roundRect">
            <a:avLst>
              <a:gd name="adj" fmla="val 17143"/>
            </a:avLst>
          </a:prstGeom>
          <a:solidFill>
            <a:srgbClr val="84482D"/>
          </a:solidFill>
          <a:ln w="63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4581" y="1887538"/>
            <a:ext cx="69004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5939" y="2464506"/>
            <a:ext cx="3132555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V1–V28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6000" y="3069057"/>
            <a:ext cx="3132555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28 anonymized PCA features preserve the transformed transaction signal.</a:t>
            </a:r>
            <a:endParaRPr lang="en-US" sz="15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29520" y="1816100"/>
            <a:ext cx="333367" cy="333375"/>
          </a:xfrm>
          <a:prstGeom prst="roundRect">
            <a:avLst>
              <a:gd name="adj" fmla="val 17143"/>
            </a:avLst>
          </a:prstGeom>
          <a:solidFill>
            <a:srgbClr val="84482D"/>
          </a:solidFill>
          <a:ln w="63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40246" y="1887538"/>
            <a:ext cx="7215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541" y="2464506"/>
            <a:ext cx="3132555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Amount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86500" y="3069057"/>
            <a:ext cx="3132555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Amount_log = log1p(Amount), reducing extreme-value skew.</a:t>
            </a:r>
            <a:endParaRPr lang="en-US" sz="15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0862" y="1816100"/>
            <a:ext cx="333367" cy="333375"/>
          </a:xfrm>
          <a:prstGeom prst="roundRect">
            <a:avLst>
              <a:gd name="adj" fmla="val 17143"/>
            </a:avLst>
          </a:prstGeom>
          <a:solidFill>
            <a:srgbClr val="84482D"/>
          </a:solidFill>
          <a:ln w="6350">
            <a:solidFill>
              <a:srgbClr val="595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2976" y="1887538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855" y="2464516"/>
            <a:ext cx="3132654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Hour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243777" y="1536700"/>
            <a:ext cx="12700" cy="4787900"/>
          </a:xfrm>
          <a:prstGeom prst="rect">
            <a:avLst/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35119" y="1536700"/>
            <a:ext cx="12700" cy="4787900"/>
          </a:xfrm>
          <a:prstGeom prst="rect">
            <a:avLst/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EA0E9C-BC6E-79BF-FA4A-84CA32E71D14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EA2077-59A0-85F9-7D5C-CAC11D582BF9}"/>
              </a:ext>
            </a:extLst>
          </p:cNvPr>
          <p:cNvSpPr txBox="1"/>
          <p:nvPr/>
        </p:nvSpPr>
        <p:spPr>
          <a:xfrm>
            <a:off x="8000424" y="2828835"/>
            <a:ext cx="4102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Hour = (Time // 3600) % 24</a:t>
            </a:r>
            <a:b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Raw Time and Amount are removed; Amount is transformed into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Amount_log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using log1p.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Data split and leakage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3462747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Stratified split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86" y="1518940"/>
            <a:ext cx="3462747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Train: 181,584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Validation: 45,396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Test: 56,746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78722" y="1057970"/>
            <a:ext cx="3234153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Scale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478722" y="1518940"/>
            <a:ext cx="3234153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StandardScaler is fitted only on training data, then applied to validation and test.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70063" y="1057970"/>
            <a:ext cx="346284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170063" y="1518940"/>
            <a:ext cx="3462846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SMOTE is applied only to training data. Validation and test retain the real class distribution.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37428" y="1057970"/>
            <a:ext cx="25399" cy="1249462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28769" y="1057970"/>
            <a:ext cx="25399" cy="1249462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6A5358-C884-8783-BDE7-B5310904B915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81000"/>
            <a:ext cx="11124922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Overall 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33387" y="1057970"/>
            <a:ext cx="1165830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complementary signals are calibrated and combined into one final decision.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33387" y="3134320"/>
            <a:ext cx="260591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INPUT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33387" y="3422551"/>
            <a:ext cx="19963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3387" y="4083745"/>
            <a:ext cx="260591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engineered features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58311" y="1536700"/>
            <a:ext cx="2966666" cy="433457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61506" y="3342084"/>
            <a:ext cx="256027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MLP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961506" y="3803055"/>
            <a:ext cx="3169861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 probability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24977" y="1536700"/>
            <a:ext cx="2966666" cy="4334570"/>
          </a:xfrm>
          <a:prstGeom prst="rect">
            <a:avLst/>
          </a:prstGeom>
          <a:solidFill>
            <a:srgbClr val="2123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28172" y="3342084"/>
            <a:ext cx="256027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Autoencoder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28172" y="3803055"/>
            <a:ext cx="3169861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Reconstruction error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894838" y="3144937"/>
            <a:ext cx="3169861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META-MODEL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894838" y="3474442"/>
            <a:ext cx="2560276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Meta-scaler → Logistic Regression → threshold </a:t>
            </a:r>
            <a:endParaRPr lang="ar-EG" sz="1500" dirty="0">
              <a:solidFill>
                <a:srgbClr val="BDA189"/>
              </a:solidFill>
              <a:latin typeface="Manrope" pitchFamily="34" charset="0"/>
              <a:ea typeface="Manrope" pitchFamily="34" charset="-122"/>
              <a:cs typeface="Manrope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ar-EG" sz="1500" dirty="0">
                <a:solidFill>
                  <a:srgbClr val="BDA189"/>
                </a:solidFill>
                <a:latin typeface="Manrope" pitchFamily="34" charset="0"/>
              </a:rPr>
              <a:t>0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</a:rPr>
              <a:t>.9885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594" y="6087170"/>
            <a:ext cx="1173450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features → MLP + Autoencoder → meta-features → ensemble score → Fraud / Legitimate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745612" y="1536700"/>
            <a:ext cx="25399" cy="433457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12277" y="1536700"/>
            <a:ext cx="25399" cy="433457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78943" y="1536700"/>
            <a:ext cx="25399" cy="433457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412A7E-3457-FB0A-0798-C108D9B1FC37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MLP learns a non-linear fraud boundary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2992537"/>
            <a:ext cx="77636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58786" y="3322042"/>
            <a:ext cx="7154088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30 → 128 → 64 → 32 → 16 → 1</a:t>
            </a:r>
            <a:endParaRPr lang="en-US" sz="1500" dirty="0"/>
          </a:p>
          <a:p>
            <a:pPr marL="0" indent="0" algn="ctr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ReLU hidden layers · sigmoid output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Dropout: 0.40 → 0.30 → 0.20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70063" y="2330946"/>
            <a:ext cx="3462846" cy="28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2D4B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 controls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170063" y="2791916"/>
            <a:ext cx="3462846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SMOTE-balanced training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EarlyStopping on validation PR-AUC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ReduceLROnPlateau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70063" y="4045545"/>
            <a:ext cx="3462747" cy="31651"/>
          </a:xfrm>
          <a:prstGeom prst="roundRect">
            <a:avLst>
              <a:gd name="adj" fmla="val 49998"/>
            </a:avLst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70063" y="4263033"/>
            <a:ext cx="3462846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Threshold selected by maximizing </a:t>
            </a: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Recall</a:t>
            </a: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on validation — not by maximizing F1.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28769" y="1057970"/>
            <a:ext cx="25399" cy="526663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E2F968-9DC3-58B5-CF53-0BFB193AB562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55600"/>
            <a:ext cx="11074123" cy="87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MLP catches the most fraud, at a high false-alarm cost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2286298"/>
            <a:ext cx="739458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MLP TEST RESULTS · THRESHOLD 0.01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615803"/>
          <a:ext cx="6785004" cy="2944640"/>
        </p:xfrm>
        <a:graphic>
          <a:graphicData uri="http://schemas.openxmlformats.org/drawingml/2006/table">
            <a:tbl>
              <a:tblPr/>
              <a:tblGrid>
                <a:gridCol w="3935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Accuracy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99.85%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Precision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53.42%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Recall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82.11%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64.73%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ROC-AUC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95.22%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79.86%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False positives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68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800978" y="2889349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800978" y="3177580"/>
            <a:ext cx="38319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82.11%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00978" y="3838773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highest Recall</a:t>
            </a:r>
            <a:endParaRPr lang="en-US" sz="1150" dirty="0"/>
          </a:p>
        </p:txBody>
      </p:sp>
      <p:sp>
        <p:nvSpPr>
          <p:cNvPr id="4" name="Shape 5"/>
          <p:cNvSpPr/>
          <p:nvPr/>
        </p:nvSpPr>
        <p:spPr>
          <a:xfrm>
            <a:off x="7800978" y="4214316"/>
            <a:ext cx="3831831" cy="31651"/>
          </a:xfrm>
          <a:prstGeom prst="roundRect">
            <a:avLst>
              <a:gd name="adj" fmla="val 49998"/>
            </a:avLst>
          </a:prstGeom>
          <a:solidFill>
            <a:srgbClr val="5035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800978" y="4431804"/>
            <a:ext cx="383193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MLP also has the highest PR-AUC, but its low threshold creates more false alarms.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59684" y="1471414"/>
            <a:ext cx="25399" cy="4903986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3F4922-6A56-7395-5979-10442A78FD69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Autoencoder is precise, with fewer false alarms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914823"/>
            <a:ext cx="6785004" cy="519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050"/>
              </a:spcAft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AUTOENCODER TEST RESULTS · THRESHOLD 6.6521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Threshold selected on the validation set by maximizing F2-score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573834"/>
          <a:ext cx="6785004" cy="2944640"/>
        </p:xfrm>
        <a:graphic>
          <a:graphicData uri="http://schemas.openxmlformats.org/drawingml/2006/table">
            <a:tbl>
              <a:tblPr/>
              <a:tblGrid>
                <a:gridCol w="3935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Accuracy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99.92%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Precision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80.23%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Recall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72.63%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76.24%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ROC-AUC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94.05%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65.01%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False positives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800978" y="2814340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READOUT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800978" y="3102570"/>
            <a:ext cx="38319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69 / 95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00978" y="3763764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true positives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00978" y="4093270"/>
            <a:ext cx="383193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Precision is stronger than the MLP, with fewer false alarms.</a:t>
            </a:r>
            <a:endParaRPr lang="en-US" sz="1500" dirty="0"/>
          </a:p>
        </p:txBody>
      </p:sp>
      <p:sp>
        <p:nvSpPr>
          <p:cNvPr id="4" name="Shape 6"/>
          <p:cNvSpPr/>
          <p:nvPr/>
        </p:nvSpPr>
        <p:spPr>
          <a:xfrm>
            <a:off x="7559684" y="1057970"/>
            <a:ext cx="25399" cy="531743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032E90-C9F9-EF15-30AB-079700DD8964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Autoencoder learns normality, then flags deviation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11632909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learns the structure of normal transactions and scores how far an input deviates.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58786" y="3231952"/>
            <a:ext cx="665632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58786" y="3561457"/>
            <a:ext cx="6046735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30 → 32 → 16 → 8 → 16 → 32 → 30</a:t>
            </a:r>
            <a:endParaRPr lang="en-US" sz="1500" dirty="0"/>
          </a:p>
          <a:p>
            <a:pPr marL="0" indent="0" algn="ctr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Normal transactions only · RobustScaler</a:t>
            </a:r>
            <a:endParaRPr lang="en-US" sz="15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Gaussian noise · L2 regularization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62710" y="3338314"/>
            <a:ext cx="512898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SIGNAL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062710" y="3667820"/>
            <a:ext cx="4570199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Weighted reconstruction error flags anomalous behavior.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062710" y="4333180"/>
            <a:ext cx="512898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Fraud-correlated features include V17, V14, V12, V10.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21416" y="1536700"/>
            <a:ext cx="25399" cy="478790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F98A2D-5970-F1DB-F3E0-8525F155E230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Stacking turns two signals into one decision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11632909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meta-model sees both the MLP probability and the Autoencoder reconstruction error.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58786" y="3458567"/>
            <a:ext cx="40723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META-FEATURES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58786" y="3788073"/>
            <a:ext cx="3462747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MLP fraud probability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Autoencoder reconstruction error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78722" y="3257352"/>
            <a:ext cx="384373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CALIBRATION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78722" y="3586857"/>
            <a:ext cx="3234153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Meta-scaler: StandardScaler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Meta-model: Logistic Regression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class_weight="balanced"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70063" y="3185120"/>
            <a:ext cx="40216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FINAL DECISION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70063" y="3473351"/>
            <a:ext cx="3462846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0.7446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170063" y="4134545"/>
            <a:ext cx="40216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ensemble threshold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70063" y="4464050"/>
            <a:ext cx="4021632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Fraud / Legitimate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37428" y="1536700"/>
            <a:ext cx="25399" cy="483870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28769" y="1536700"/>
            <a:ext cx="25399" cy="483870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A00454-2DB8-C20B-B7F0-A9E4DA3D7E91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The ensemble improves the operating balance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2290366"/>
            <a:ext cx="7394588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ENSEMBLE TEST RESULTS · THRESHOLD 0.7446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619871"/>
          <a:ext cx="6785004" cy="2523070"/>
        </p:xfrm>
        <a:graphic>
          <a:graphicData uri="http://schemas.openxmlformats.org/drawingml/2006/table">
            <a:tbl>
              <a:tblPr/>
              <a:tblGrid>
                <a:gridCol w="39353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Accuracy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99.94%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Precision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86.90%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Recall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76.84%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81.56%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ROC-AUC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95.72%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False positives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800978" y="2814340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READOUT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800978" y="3102570"/>
            <a:ext cx="3831931" cy="423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41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73 / 95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800978" y="3763764"/>
            <a:ext cx="4390717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1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true positives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00978" y="4093270"/>
            <a:ext cx="383193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Best overall balance and fewest false positives on the held-out test set.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59684" y="1057970"/>
            <a:ext cx="25399" cy="531743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9E7762-38E4-D61E-F1C2-BCF5E1E89FBA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0200"/>
            <a:ext cx="11175720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Model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87" y="1007170"/>
            <a:ext cx="1168370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ensemble is the balance choice, not a universal winner.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87" y="1485900"/>
          <a:ext cx="11175720" cy="1679930"/>
        </p:xfrm>
        <a:graphic>
          <a:graphicData uri="http://schemas.openxmlformats.org/drawingml/2006/table">
            <a:tbl>
              <a:tblPr/>
              <a:tblGrid>
                <a:gridCol w="201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0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75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Model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Precision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Recall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ROC-AUC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PR-AUC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FP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MLP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53.42%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82.11%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64.73%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95.22%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79.86%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68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5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Autoencoder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80.23%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72.63%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76.24%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94.05%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65.01%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17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Ensemble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86.90%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76.84%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81.56%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95.72%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72.42%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BDA189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11</a:t>
                      </a:r>
                      <a:endParaRPr lang="en-US" sz="15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3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3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3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93730" y="3457972"/>
            <a:ext cx="11397965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Ensemble: best overall balance and fewest false positives. MLP: highest Recall and PR-AUC.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7987" y="3381772"/>
            <a:ext cx="28574" cy="415230"/>
          </a:xfrm>
          <a:prstGeom prst="roundRect">
            <a:avLst>
              <a:gd name="adj" fmla="val 50000"/>
            </a:avLst>
          </a:prstGeom>
          <a:solidFill>
            <a:srgbClr val="8448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0B6E6-6F27-4343-9EEE-209910DB18D3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81000"/>
            <a:ext cx="11074123" cy="438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200" kern="0" spc="-26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Streamlit deployment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58786" y="1057970"/>
            <a:ext cx="11632909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Inference mirrors the training-time pipeline without shipping the training dataset.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58786" y="2439591"/>
            <a:ext cx="40723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INFERENCE FLOW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58786" y="2769096"/>
            <a:ext cx="3462747" cy="26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inputs transaction features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same preprocessing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MLP probability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Autoencoder reconstruction error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ensemble meta-model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final threshold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→ FRAUD / LEGITIMATE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78722" y="3244652"/>
            <a:ext cx="771297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DEPLOYMENT RULES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78722" y="3574157"/>
            <a:ext cx="7154187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Saved artifacts only.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not load the training dataset.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Does not retrain models.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37428" y="1536700"/>
            <a:ext cx="25399" cy="4813300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8463DC-801D-F8B5-9A1F-5FBC55C966B3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783" y="533400"/>
            <a:ext cx="1142971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 spc="69" dirty="0">
                <a:solidFill>
                  <a:srgbClr val="F2D4BA"/>
                </a:solidFill>
                <a:latin typeface="Manrope Medium" pitchFamily="34" charset="0"/>
                <a:ea typeface="Manrope Medium" pitchFamily="34" charset="-122"/>
                <a:cs typeface="Manrope Medium" pitchFamily="34" charset="-120"/>
              </a:rPr>
              <a:t>FINAL TAKEAWAY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783" y="821630"/>
            <a:ext cx="10820129" cy="1144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kern="0" spc="-55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Deep learning can detect highly imbalanced fraud patterns.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783" y="2204740"/>
            <a:ext cx="5181470" cy="10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MLP provides strong fraud sensitivity.</a:t>
            </a:r>
            <a:endParaRPr lang="en-US" sz="1500" dirty="0"/>
          </a:p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Autoencoder detects deviations from normal behavior.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Stacking combines both signals.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24442" y="2204740"/>
            <a:ext cx="5181470" cy="92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1050"/>
              </a:spcAft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Ensemble achieved the best overall balance on the held-out test set.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deployment is available through Streamlit.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3148" y="2204740"/>
            <a:ext cx="25399" cy="1067891"/>
          </a:xfrm>
          <a:prstGeom prst="rect">
            <a:avLst/>
          </a:prstGeom>
          <a:solidFill>
            <a:srgbClr val="BE68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B794A3-E6CB-567E-2D28-4DA391580B0A}"/>
              </a:ext>
            </a:extLst>
          </p:cNvPr>
          <p:cNvSpPr/>
          <p:nvPr/>
        </p:nvSpPr>
        <p:spPr>
          <a:xfrm>
            <a:off x="10901392" y="6346776"/>
            <a:ext cx="1209040" cy="457497"/>
          </a:xfrm>
          <a:prstGeom prst="rect">
            <a:avLst/>
          </a:prstGeom>
          <a:solidFill>
            <a:srgbClr val="212326"/>
          </a:solidFill>
          <a:ln>
            <a:solidFill>
              <a:srgbClr val="2123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822</Words>
  <Application>Microsoft Office PowerPoint</Application>
  <PresentationFormat>Widescreen</PresentationFormat>
  <Paragraphs>211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Prata</vt:lpstr>
      <vt:lpstr>Arial</vt:lpstr>
      <vt:lpstr>Manrope Bold</vt:lpstr>
      <vt:lpstr>Manrope Medium</vt:lpstr>
      <vt:lpstr>Manrope</vt:lpstr>
      <vt:lpstr>Manrope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OG</dc:creator>
  <cp:lastModifiedBy>Sherouk Yehia</cp:lastModifiedBy>
  <cp:revision>4</cp:revision>
  <dcterms:created xsi:type="dcterms:W3CDTF">2026-09-12T02:31:36Z</dcterms:created>
  <dcterms:modified xsi:type="dcterms:W3CDTF">2026-09-12T07:47:14Z</dcterms:modified>
</cp:coreProperties>
</file>